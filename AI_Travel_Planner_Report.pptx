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FAFC"/>
                </a:solidFill>
                <a:latin typeface="Calibri"/>
              </a:defRPr>
            </a:pPr>
            <a:r>
              <a:t>AGENTIC AI-BASED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B82F6"/>
                </a:solidFill>
                <a:latin typeface="Calibri"/>
              </a:defRPr>
            </a:pPr>
            <a:r>
              <a:t>TRAVEL PLANNING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Calibri"/>
              </a:defRPr>
            </a:pPr>
            <a:r>
              <a:t>Using LangChain, LangGraph &amp; Google Gemini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4389120"/>
            <a:ext cx="5760720" cy="13716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448056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  <a:latin typeface="Calibri"/>
              </a:defRPr>
            </a:pPr>
            <a:r>
              <a:t>PROJECT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48463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Domain: Travel / Tourism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52120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Submitted to: Labmentix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© 2026  |  Python • LangChain • Streamlit • SQLite • Open-Meteo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TABLE OF CONTENTS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515600" cy="384048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6420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66420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  <a:latin typeface="Calibri"/>
              </a:defRPr>
            </a:pPr>
            <a:r>
              <a:t>Problem Statement &amp; Business Use Cases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10515600" cy="384048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2140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12140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  <a:latin typeface="Calibri"/>
              </a:defRPr>
            </a:pPr>
            <a:r>
              <a:t>Project Objectives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0515600" cy="384048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7860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7860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  <a:latin typeface="Calibri"/>
              </a:defRPr>
            </a:pPr>
            <a:r>
              <a:t>Technology Stack &amp; Architecture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17520"/>
            <a:ext cx="10515600" cy="384048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3580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3580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  <a:latin typeface="Calibri"/>
              </a:defRPr>
            </a:pPr>
            <a:r>
              <a:t>Data Sources &amp; Database Design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74720"/>
            <a:ext cx="10515600" cy="384048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49300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49300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  <a:latin typeface="Calibri"/>
              </a:defRPr>
            </a:pPr>
            <a:r>
              <a:t>LangChain Tools Implementation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931920"/>
            <a:ext cx="10515600" cy="384048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950207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950207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  <a:latin typeface="Calibri"/>
              </a:defRPr>
            </a:pPr>
            <a:r>
              <a:t>Agentic AI Workflow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89120"/>
            <a:ext cx="10515600" cy="384048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407407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407407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  <a:latin typeface="Calibri"/>
              </a:defRPr>
            </a:pPr>
            <a:r>
              <a:t>Streamlit UI/UX Design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846320"/>
            <a:ext cx="10515600" cy="384048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864607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864607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  <a:latin typeface="Calibri"/>
              </a:defRPr>
            </a:pPr>
            <a:r>
              <a:t>Expected Output &amp; Demo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303520"/>
            <a:ext cx="10515600" cy="384048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21807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321807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  <a:latin typeface="Calibri"/>
              </a:defRPr>
            </a:pPr>
            <a:r>
              <a:t>Code Quality &amp; Best Practices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760720"/>
            <a:ext cx="10515600" cy="384048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779007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5779007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  <a:latin typeface="Calibri"/>
              </a:defRPr>
            </a:pPr>
            <a:r>
              <a:t>Conclusion &amp; Future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515600" cy="201168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Calibri"/>
              </a:defRPr>
            </a:pPr>
            <a:r>
              <a:t>THE CHALLENGE</a:t>
            </a:r>
          </a:p>
          <a:p>
            <a:pPr algn="l">
              <a:defRPr sz="800" b="0">
                <a:solidFill>
                  <a:srgbClr val="F8FAFC"/>
                </a:solidFill>
                <a:latin typeface="Calibri"/>
              </a:defRPr>
            </a:pPr>
          </a:p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Planning a trip requires choosing flights, hotels, and attractions while considering</a:t>
            </a:r>
          </a:p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time, budget, weather, distance, and personal preferences.</a:t>
            </a:r>
          </a:p>
          <a:p>
            <a:pPr algn="l">
              <a:defRPr sz="800" b="0">
                <a:solidFill>
                  <a:srgbClr val="F8FAFC"/>
                </a:solidFill>
                <a:latin typeface="Calibri"/>
              </a:defRPr>
            </a:pPr>
          </a:p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Travelers often switch between multiple websites, compare inconsistent information,</a:t>
            </a:r>
          </a:p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and manually build itineraries that may be inefficient, unrealistic, or incomplete.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10515600" cy="22860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931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Calibri"/>
              </a:defRPr>
            </a:pPr>
            <a:r>
              <a:t>BUSINESS USE CASES</a:t>
            </a:r>
          </a:p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✦  Reduce customer support workload for travel agencies</a:t>
            </a:r>
          </a:p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✦  Provide hyper-personalized recommendations at scale</a:t>
            </a:r>
          </a:p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✦  Automate itinerary design with real-time data</a:t>
            </a:r>
          </a:p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✦  Improve customer satisfaction &amp; save time and money</a:t>
            </a:r>
          </a:p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✦  Adopted by: MakeMyTrip, Booking.com, ClearTrip, Ixigo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029200" cy="45720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PRIMARY OBJECTIVES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Build an agentic AI system using LangChain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Integrate tools: Flight, Hotel, Places, Weather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Enable multi-step reasoning (ReAct Agent)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Generate structured itineraries with: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   • Day-wise plan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   • Accommodation details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   • Weather expectations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   • Budget estimation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029200" cy="45720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SECONDARY OBJECTIVES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Implement filtering, ranking &amp; optimization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  (cheapest flight, highest-rated hotel)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Ensure the system can justify decisions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  ('Why we selected this?')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Provide output in JSON + human-readable format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Build a beautiful Streamlit interface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Follow PEP 8 coding standards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Comprehensive documentation (README)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TECHNOLOGY STACK &amp;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21031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  <a:latin typeface="Calibri"/>
              </a:defRPr>
            </a:pPr>
            <a:r>
              <a:t>Python 3.14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Core programming language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21031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  <a:latin typeface="Calibri"/>
              </a:defRPr>
            </a:pPr>
            <a:r>
              <a:t>LangChain + LangGraph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4688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Agentic AI framework &amp; orchestration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54480"/>
            <a:ext cx="3383280" cy="21031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  <a:latin typeface="Calibri"/>
              </a:defRPr>
            </a:pPr>
            <a:r>
              <a:t>Google Gemini 2.5 Flash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4688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Large Language Model for reasoning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3383280" cy="21031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97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  <a:latin typeface="Calibri"/>
              </a:defRPr>
            </a:pPr>
            <a:r>
              <a:t>Streamlit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377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Frontend web application framework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4023360"/>
            <a:ext cx="3383280" cy="21031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297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  <a:latin typeface="Calibri"/>
              </a:defRPr>
            </a:pPr>
            <a:r>
              <a:t>SQLite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9377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Local relational database for data storage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4023360"/>
            <a:ext cx="3383280" cy="21031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4297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  <a:latin typeface="Calibri"/>
              </a:defRPr>
            </a:pPr>
            <a:r>
              <a:t>Open-Meteo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377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Free real-time weather forecasting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DATA SOURCES &amp; DATABASE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6858000" cy="45720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Calibri"/>
              </a:defRPr>
            </a:pPr>
            <a:r>
              <a:t>JSON DATASETS → SQLite DATABASE</a:t>
            </a:r>
          </a:p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flights.json → flights table</a:t>
            </a:r>
          </a:p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  Fields: flight_id, airline, source, destination, departure,</a:t>
            </a:r>
          </a:p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  duration_hrs, price_inr</a:t>
            </a:r>
          </a:p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</a:p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hotels.json → hotels table</a:t>
            </a:r>
          </a:p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  Fields: hotel_id, name, city, rating, price_per_night_inr,</a:t>
            </a:r>
          </a:p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  amenities</a:t>
            </a:r>
          </a:p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</a:p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places.json → places table</a:t>
            </a:r>
          </a:p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  Fields: place_id, name, city, type, rating, description</a:t>
            </a:r>
          </a:p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</a:p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SQL Optimizations:</a:t>
            </a:r>
          </a:p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  • Indexed on (source, destination) for flights</a:t>
            </a:r>
          </a:p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  • Indexed on (city) for hotels &amp; places</a:t>
            </a:r>
          </a:p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  • Normalized tables — no redundancy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645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LIVE WEATHER API</a:t>
            </a:r>
          </a:p>
          <a:p>
            <a:pPr algn="l">
              <a:defRPr sz="600" b="0">
                <a:solidFill>
                  <a:srgbClr val="F8FAFC"/>
                </a:solidFill>
                <a:latin typeface="Calibri"/>
              </a:defRPr>
            </a:pPr>
          </a:p>
          <a:p>
            <a:pPr algn="l">
              <a:defRPr sz="1600" b="1">
                <a:solidFill>
                  <a:srgbClr val="F8FAFC"/>
                </a:solidFill>
                <a:latin typeface="Calibri"/>
              </a:defRPr>
            </a:pPr>
            <a:r>
              <a:t>Open-Meteo API</a:t>
            </a:r>
          </a:p>
          <a:p>
            <a:pPr algn="l">
              <a:defRPr sz="600" b="0">
                <a:solidFill>
                  <a:srgbClr val="F8FAFC"/>
                </a:solidFill>
                <a:latin typeface="Calibri"/>
              </a:defRPr>
            </a:pPr>
          </a:p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✦ No API key required</a:t>
            </a:r>
          </a:p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✦ 7-day forecast</a:t>
            </a:r>
          </a:p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✦ Temperature data</a:t>
            </a:r>
          </a:p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✦ Timezone-aware</a:t>
            </a:r>
          </a:p>
          <a:p>
            <a:pPr algn="l">
              <a:defRPr sz="1000" b="0">
                <a:solidFill>
                  <a:srgbClr val="F8FAFC"/>
                </a:solidFill>
                <a:latin typeface="Calibri"/>
              </a:defRPr>
            </a:pPr>
          </a:p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Endpoint:</a:t>
            </a:r>
          </a:p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api.open-meteo.com</a:t>
            </a:r>
          </a:p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/v1/forecast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LANGCHAIN TOOLS 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515600" cy="86868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✈️  FLIGHT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60020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Queries SQLite for flights by source → destination. Suggests cheapest/fastest option.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10515600" cy="86868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Calibri"/>
              </a:defRPr>
            </a:pPr>
            <a:r>
              <a:t>🏨  HOTEL 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60604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Filters hotels by city, ranks by rating &amp; price. Returns top matches.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74720"/>
            <a:ext cx="10515600" cy="86868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Calibri"/>
              </a:defRPr>
            </a:pPr>
            <a:r>
              <a:t>📍  PLACES DISCOVERY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61188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Recommends tourist attractions based on city, type &amp; rating.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80560"/>
            <a:ext cx="10515600" cy="86868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🌤️  WEATHER LOOKUP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461772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Calls Open-Meteo API with lat/long. Returns 7-day forecast.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486400"/>
            <a:ext cx="10515600" cy="86868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577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Calibri"/>
              </a:defRPr>
            </a:pPr>
            <a:r>
              <a:t>💰  BUDGET ESTIMATION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562356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Sums flight + hotel + daily local expenses. Returns structured breakdown.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AGENTIC AI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219456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916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916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Calibri"/>
              </a:defRPr>
            </a:pPr>
            <a:r>
              <a:t>USER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User enters travel query</a:t>
            </a:r>
            <a:br/>
            <a:r>
              <a:t>(destination, dates, preferences)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554480"/>
            <a:ext cx="3383280" cy="219456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916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6916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Calibri"/>
              </a:defRPr>
            </a:pPr>
            <a:r>
              <a:t>AGENT REASONING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945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LangGraph ReAct agent</a:t>
            </a:r>
            <a:br/>
            <a:r>
              <a:t>analyzes the request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554480"/>
            <a:ext cx="3383280" cy="219456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6916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16916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Calibri"/>
              </a:defRPr>
            </a:pPr>
            <a:r>
              <a:t>TOOL CALLING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1945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Agent autonomously selects</a:t>
            </a:r>
            <a:br/>
            <a:r>
              <a:t>and calls relevant tools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3383280" cy="219456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251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51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Calibri"/>
              </a:defRPr>
            </a:pPr>
            <a:r>
              <a:t>DATA RETRIEVAL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548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Tools query SQLite DB</a:t>
            </a:r>
            <a:br/>
            <a:r>
              <a:t>and Open-Meteo 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59" y="4114800"/>
            <a:ext cx="3383280" cy="219456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4251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251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Calibri"/>
              </a:defRPr>
            </a:pPr>
            <a:r>
              <a:t>ITINERARY GEN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7548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Agent constructs 3-7 day</a:t>
            </a:r>
            <a:br/>
            <a:r>
              <a:t>structured itinerary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4114800"/>
            <a:ext cx="3383280" cy="219456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4251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4251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7548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Final answer with flights,</a:t>
            </a:r>
            <a:br/>
            <a:r>
              <a:t>hotels, weather &amp; budget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STREAMLIT UI / UX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029200" cy="45720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Calibri"/>
              </a:defRPr>
            </a:pPr>
            <a:r>
              <a:t>DESIGN SYSTEM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✦ Deep dark theme (#0A0A0A base)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✦ Space Grotesk + Inter fonts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✦ Glassmorphism card components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✦ Gradient buttons with glow hover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✦ Custom chat bubble styling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✦ Dashboard metric cards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✦ Progress bar system indicators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✦ Responsive wide layout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✦ Custom CSS injection (200+ lines)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029200" cy="45720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FEATURES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✦ Sidebar with API Key input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✦ Real-time system status dashboard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✦ Chat-based interaction interface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✦ Styled AI response rendering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✦ Error handling with user feedback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✦ Session state management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✦ @st.cache_data for performance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✦ Hot-reload development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✦ Mobile responsive layout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EXPECTED OUTPUT &amp; DEMO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515600" cy="475488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SAMPLE OUTPUT: 3-DAY TRIP TO GOA (FEB 12-14)</a:t>
            </a:r>
          </a:p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Flight Selected: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  IndiGo (₹4800) — Departs Delhi at 14:00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</a:p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Hotel Booked: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  Sea View Resort (₹3200/night, 4-star)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</a:p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Weather: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  Day 1: Sunny (31°C)  |  Day 2: Partly Cloudy  |  Day 3: Light Breeze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</a:p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Itinerary: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  Day 1: Baga Beach, Candolim Market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  Day 2: Basilica of Bom Jesus, Old Goa Heritage Walk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  Day 3: Water Sports at Calangute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</a:p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Budget Breakdown: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  Flight: ₹4,800  |  Hotel: ₹6,400  |  Food &amp; Travel: ₹2,500</a:t>
            </a:r>
          </a:p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─────────────────────────────────────────────</a:t>
            </a:r>
          </a:p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  TOTAL COST: ₹13,700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CODE QUALITY &amp; BEST PRACTICES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CODING STANDARDS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</a:p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✦  PEP 8 compliant formatting</a:t>
            </a:r>
          </a:p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✦  Meaningful variable &amp; function names</a:t>
            </a:r>
          </a:p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✦  Modular code (functions &amp; classes)</a:t>
            </a:r>
          </a:p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✦  try-except error handling</a:t>
            </a:r>
          </a:p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✦  Docstrings &amp; inline comments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554480"/>
            <a:ext cx="3383280" cy="45720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645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  <a:latin typeface="Calibri"/>
              </a:defRPr>
            </a:pPr>
            <a:r>
              <a:t>DATABASE PRACTICES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21945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</a:p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✦  Normalized tables (3NF)</a:t>
            </a:r>
          </a:p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✦  Indexed columns for fast queries</a:t>
            </a:r>
          </a:p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✦  Consistent naming conventions</a:t>
            </a:r>
          </a:p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✦  INSERT OR REPLACE for idempotency</a:t>
            </a:r>
          </a:p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✦  Parameterized queries (SQL injection safe)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554480"/>
            <a:ext cx="3383280" cy="45720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645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  <a:latin typeface="Calibri"/>
              </a:defRPr>
            </a:pPr>
            <a:r>
              <a:t>PROJECT 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1945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</a:p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✦  data/ — JSON datasets</a:t>
            </a:r>
          </a:p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✦  database.py — DB initialization</a:t>
            </a:r>
          </a:p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✦  tools.py — LangChain tool definitions</a:t>
            </a:r>
          </a:p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✦  agent.py — Agent configuration</a:t>
            </a:r>
          </a:p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✦  app.py — Streamlit frontend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CONCLUSION &amp;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029200" cy="45720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WHAT WE BUILT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✦ Fully autonomous AI travel agent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✦ 5 integrated LangChain tools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✦ Real-time weather integration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✦ SQLite-backed data layer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✦ Premium dark-themed Streamlit UI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✦ Structured itinerary generation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✦ Budget estimation &amp; optimization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✦ Clean, modular, documented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029200" cy="45720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FUTURE ENHANCEMENTS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✦ Multi-city trip planning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✦ Real-time flight/hotel APIs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✦ User authentication &amp; profiles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✦ Trip history &amp; saved itineraries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✦ Multi-language support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✦ Voice-based trip planning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✦ Integration with booking platforms</a:t>
            </a:r>
          </a:p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✦ Advanced analytics dashboard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8FAFC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B82F6"/>
                </a:solidFill>
                <a:latin typeface="Calibri"/>
              </a:defRPr>
            </a:pPr>
            <a:r>
              <a:t>Agentic AI-Based Travel Planning Assistant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4114800"/>
            <a:ext cx="5760720" cy="16459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0" y="42062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  <a:latin typeface="Calibri"/>
              </a:defRPr>
            </a:pPr>
            <a:r>
              <a:t>PROJECT LINKS</a:t>
            </a:r>
          </a:p>
          <a:p>
            <a:pPr algn="l">
              <a:defRPr sz="600" b="0">
                <a:solidFill>
                  <a:srgbClr val="F8FAFC"/>
                </a:solidFill>
                <a:latin typeface="Calibri"/>
              </a:defRPr>
            </a:pPr>
          </a:p>
          <a:p>
            <a:pPr algn="ctr">
              <a:defRPr sz="1500" b="0">
                <a:solidFill>
                  <a:srgbClr val="94A3B8"/>
                </a:solidFill>
                <a:latin typeface="Calibri"/>
              </a:defRPr>
            </a:pPr>
            <a:r>
              <a:t>GitHub: github.com/viRAJ357/AIPLANNER</a:t>
            </a:r>
          </a:p>
          <a:p>
            <a:pPr algn="ctr">
              <a:defRPr sz="1500" b="0">
                <a:solidFill>
                  <a:srgbClr val="94A3B8"/>
                </a:solidFill>
                <a:latin typeface="Calibri"/>
              </a:defRPr>
            </a:pPr>
            <a:r>
              <a:t>Tech: Python | LangChain | Streamlit | SQLite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